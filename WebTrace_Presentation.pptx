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0" y="914400"/>
            <a:ext cx="9601200" cy="4754880"/>
          </a:xfrm>
          <a:prstGeom prst="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118872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0F0FF"/>
                </a:solidFill>
              </a:rPr>
              <a:t>WebTrace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2423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1F5F9"/>
                </a:solidFill>
              </a:rPr>
              <a:t>Domain-Restricted BFS Web Crawler &amp; Graph Analyzer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3090672"/>
            <a:ext cx="41148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B5CF6"/>
                </a:solidFill>
              </a:rPr>
              <a:t>ECE 2103 — Data Structures &amp;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7947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A real-world educational artifact mapping site topology with BFS, Adjacency Lists,
Binary Search Trees, Min-Heap Priority Queues &amp; Dijkstra's Algorithm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473952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Python 3  •  Flask  •  React + Tailwind  •  BeautifulSoup4  •  vis-network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0FF"/>
                </a:solidFill>
              </a:rPr>
              <a:t>Purpose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Why build a custom BFS crawler instead of using an existing tool?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WebTrace  •  ECE 2103 — Data Structures &amp;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2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80160"/>
            <a:ext cx="5486400" cy="2468880"/>
          </a:xfrm>
          <a:prstGeom prst="rect">
            <a:avLst/>
          </a:prstGeom>
          <a:solidFill>
            <a:srgbClr val="0F172A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280160"/>
            <a:ext cx="5486400" cy="6400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1731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🗺  Map Site Topology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74519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Systematically discovers every reachable internal URL from a seed, building
a directed graph G = (V, E) of the website's hyperlink structure.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280160"/>
            <a:ext cx="5486400" cy="2468880"/>
          </a:xfrm>
          <a:prstGeom prst="rect">
            <a:avLst/>
          </a:prstGeom>
          <a:solidFill>
            <a:srgbClr val="0F172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80160"/>
            <a:ext cx="548640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1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📊  Analyze Link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74519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Measures out-degree (out-links per page), exposes orphan pages, cross-links,
and computes shortest click-paths using Dijkstra's algorithm.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840480"/>
            <a:ext cx="5486400" cy="2468880"/>
          </a:xfrm>
          <a:prstGeom prst="rect">
            <a:avLst/>
          </a:prstGeom>
          <a:solidFill>
            <a:srgbClr val="0F172A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3840480"/>
            <a:ext cx="54864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9776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🎓  Living DSA Classroom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4348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Every module maps 1-to-1 to an ECE 2103 topic:
BFS, Queues, Hash Sets, Adjacency Lists, Heaps, BSTs, Hashing.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840480"/>
            <a:ext cx="5486400" cy="2468880"/>
          </a:xfrm>
          <a:prstGeom prst="rect">
            <a:avLst/>
          </a:prstGeom>
          <a:solidFill>
            <a:srgbClr val="0F172A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840480"/>
            <a:ext cx="5486400" cy="64008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9776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</a:rPr>
              <a:t>⚙  Real-World Constraints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348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Demonstrates ethical scraping: robots.txt compliance, politeness delays,
domain restriction, and URL canonicalization — not just theory.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0FF"/>
                </a:solidFill>
              </a:rPr>
              <a:t>Data Structures —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Every structure tied to a specific module and real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WebTrace  •  ECE 2103 — Data Structures &amp;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3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234440"/>
            <a:ext cx="1600200" cy="384048"/>
          </a:xfrm>
          <a:prstGeom prst="rect">
            <a:avLst/>
          </a:prstGeom>
          <a:solidFill>
            <a:srgbClr val="00F0FF"/>
          </a:solidFill>
          <a:ln w="762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" y="127101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0F19"/>
                </a:solidFill>
              </a:rPr>
              <a:t>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01368" y="1234440"/>
            <a:ext cx="1965960" cy="384048"/>
          </a:xfrm>
          <a:prstGeom prst="rect">
            <a:avLst/>
          </a:prstGeom>
          <a:solidFill>
            <a:srgbClr val="0F172A"/>
          </a:solidFill>
          <a:ln w="762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47088" y="1271016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0FF"/>
                </a:solidFill>
              </a:rPr>
              <a:t>Python Type / Location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67328" y="1234440"/>
            <a:ext cx="2788920" cy="384048"/>
          </a:xfrm>
          <a:prstGeom prst="rect">
            <a:avLst/>
          </a:prstGeom>
          <a:solidFill>
            <a:srgbClr val="0F172A"/>
          </a:solidFill>
          <a:ln w="762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3048" y="1271016"/>
            <a:ext cx="26974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0FF"/>
                </a:solidFill>
              </a:rPr>
              <a:t>Role in WebTrace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56248" y="1234440"/>
            <a:ext cx="960120" cy="384048"/>
          </a:xfrm>
          <a:prstGeom prst="rect">
            <a:avLst/>
          </a:prstGeom>
          <a:solidFill>
            <a:srgbClr val="0F172A"/>
          </a:solidFill>
          <a:ln w="762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1271016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0FF"/>
                </a:solidFill>
              </a:rPr>
              <a:t>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16368" y="1234440"/>
            <a:ext cx="960120" cy="384048"/>
          </a:xfrm>
          <a:prstGeom prst="rect">
            <a:avLst/>
          </a:prstGeom>
          <a:solidFill>
            <a:srgbClr val="0F172A"/>
          </a:solidFill>
          <a:ln w="762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2088" y="1271016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0FF"/>
                </a:solidFill>
              </a:rPr>
              <a:t>Space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1618488"/>
            <a:ext cx="1600200" cy="65836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" y="1664208"/>
            <a:ext cx="14904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0FF"/>
                </a:solidFill>
              </a:rPr>
              <a:t>FIFO Queue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01368" y="1618488"/>
            <a:ext cx="1965960" cy="65836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56231" y="1664208"/>
            <a:ext cx="185623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collections.deque
crawler.py:99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67328" y="1618488"/>
            <a:ext cx="2788920" cy="65836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22191" y="1664208"/>
            <a:ext cx="267919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BFS frontier — enqueue at back,
dequeue at front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6248" y="1618488"/>
            <a:ext cx="960120" cy="65836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1112" y="1664208"/>
            <a:ext cx="8503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O(1)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16368" y="1618488"/>
            <a:ext cx="960120" cy="65836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71232" y="1664208"/>
            <a:ext cx="8503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O(|V|)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2276856"/>
            <a:ext cx="1600200" cy="65836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" y="2322576"/>
            <a:ext cx="14904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0FF"/>
                </a:solidFill>
              </a:rPr>
              <a:t>Vector (Dynamic Array)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01368" y="2276856"/>
            <a:ext cx="1965960" cy="65836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56231" y="2322576"/>
            <a:ext cx="185623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structures.Vector[T]
crawler.py:100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67328" y="2276856"/>
            <a:ext cx="2788920" cy="65836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22191" y="2322576"/>
            <a:ext cx="267919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Visited URL tracker — Linear/Binary
Search, capacity doubling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56248" y="2276856"/>
            <a:ext cx="960120" cy="65836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11112" y="2322576"/>
            <a:ext cx="8503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O(N)/O(logN)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16368" y="2276856"/>
            <a:ext cx="960120" cy="65836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71232" y="2322576"/>
            <a:ext cx="8503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O(|V|)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2935224"/>
            <a:ext cx="1600200" cy="65836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2980944"/>
            <a:ext cx="14904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0FF"/>
                </a:solidFill>
              </a:rPr>
              <a:t>Adjacency List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01368" y="2935224"/>
            <a:ext cx="1965960" cy="65836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56231" y="2980944"/>
            <a:ext cx="185623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dict[str,list[str]]
graph.py:49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67328" y="2935224"/>
            <a:ext cx="2788920" cy="65836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22191" y="2980944"/>
            <a:ext cx="267919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Directed graph G=(V,E) of
hyperlinks per page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56248" y="2935224"/>
            <a:ext cx="960120" cy="65836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11112" y="2980944"/>
            <a:ext cx="8503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O(1) insert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16368" y="2935224"/>
            <a:ext cx="960120" cy="65836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71232" y="2980944"/>
            <a:ext cx="8503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O(|V|+|E|)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1168" y="3593592"/>
            <a:ext cx="1600200" cy="65836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6032" y="3639312"/>
            <a:ext cx="14904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0FF"/>
                </a:solidFill>
              </a:rPr>
              <a:t>Min-Heap PQ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01368" y="3593592"/>
            <a:ext cx="1965960" cy="65836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56231" y="3639312"/>
            <a:ext cx="185623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MinHeapPriorityQueue[T]
structures.py:184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67328" y="3593592"/>
            <a:ext cx="2788920" cy="65836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22191" y="3639312"/>
            <a:ext cx="267919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Dijkstra greedy extract-min —
arr-mapped complete binary tree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56248" y="3593592"/>
            <a:ext cx="960120" cy="65836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11112" y="3639312"/>
            <a:ext cx="8503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O(log N)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16368" y="3593592"/>
            <a:ext cx="960120" cy="65836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71232" y="3639312"/>
            <a:ext cx="8503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O(|V|)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1168" y="4251960"/>
            <a:ext cx="1600200" cy="65836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6032" y="4297680"/>
            <a:ext cx="14904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0FF"/>
                </a:solidFill>
              </a:rPr>
              <a:t>BST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01368" y="4251960"/>
            <a:ext cx="1965960" cy="65836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56231" y="4297680"/>
            <a:ext cx="185623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BinarySearchTree[T]
structures.py:284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67328" y="4251960"/>
            <a:ext cx="2788920" cy="65836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22191" y="4297680"/>
            <a:ext cx="267919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Lexicographic URL index —
in-order traversal sorts pages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56248" y="4251960"/>
            <a:ext cx="960120" cy="65836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11112" y="4297680"/>
            <a:ext cx="8503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O(log N) avg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516368" y="4251960"/>
            <a:ext cx="960120" cy="65836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71232" y="4297680"/>
            <a:ext cx="8503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O(|V|)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1168" y="4910327"/>
            <a:ext cx="1600200" cy="65836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6032" y="4956047"/>
            <a:ext cx="14904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0FF"/>
                </a:solidFill>
              </a:rPr>
              <a:t>Hash Map (×2)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801368" y="4910327"/>
            <a:ext cx="1965960" cy="65836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856231" y="4956047"/>
            <a:ext cx="185623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dict in fetcher.py:72–73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67328" y="4910327"/>
            <a:ext cx="2788920" cy="65836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822191" y="4956047"/>
            <a:ext cx="267919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robots.txt parser cache +
last-request timestamp per domain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56248" y="4910327"/>
            <a:ext cx="960120" cy="65836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11112" y="4956047"/>
            <a:ext cx="8503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O(1) avg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516368" y="4910327"/>
            <a:ext cx="960120" cy="65836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71232" y="4956047"/>
            <a:ext cx="8503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O(Domains)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01168" y="5568696"/>
            <a:ext cx="1600200" cy="65836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56032" y="5614416"/>
            <a:ext cx="14904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0FF"/>
                </a:solidFill>
              </a:rPr>
              <a:t>Hash Set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01368" y="5568696"/>
            <a:ext cx="1965960" cy="65836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856231" y="5614416"/>
            <a:ext cx="185623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set in graph.py:50
parser.py:59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767328" y="5568696"/>
            <a:ext cx="2788920" cy="65836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822191" y="5614416"/>
            <a:ext cx="267919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Duplicate edge prevention in
LinkGraph; seen-URL dedup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556248" y="5568696"/>
            <a:ext cx="960120" cy="65836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611112" y="5614416"/>
            <a:ext cx="8503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O(1) avg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16368" y="5568696"/>
            <a:ext cx="960120" cy="65836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571232" y="5614416"/>
            <a:ext cx="85039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O(|E|)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0FF"/>
                </a:solidFill>
              </a:rPr>
              <a:t>DS 1 &amp; 2 — FIFO Queue + Vector (Dynamic Array)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crawler.py:99-100  |  structures.py:31-164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WebTrace  •  ECE 2103 — Data Structures &amp;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4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34440"/>
            <a:ext cx="5577840" cy="5349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234440"/>
            <a:ext cx="5577840" cy="6400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0FF"/>
                </a:solidFill>
              </a:rPr>
              <a:t>📥  FIFO Queue  (collections.deque)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8308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• BFS frontier — holds CrawlTask(url, depth, parent)</a:t>
            </a:r>
          </a:p>
          <a:p>
            <a:pPr algn="l"/>
            <a:r>
              <a:rPr sz="1200" b="0">
                <a:solidFill>
                  <a:srgbClr val="F1F5F9"/>
                </a:solidFill>
              </a:rPr>
              <a:t>• append() adds to BACK  →  popleft() removes from FRONT</a:t>
            </a:r>
          </a:p>
          <a:p>
            <a:pPr algn="l"/>
            <a:r>
              <a:rPr sz="1200" b="0">
                <a:solidFill>
                  <a:srgbClr val="F1F5F9"/>
                </a:solidFill>
              </a:rPr>
              <a:t>• FIFO ordering enforces BFS level-by-level guarantee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00F0FF"/>
                </a:solidFill>
              </a:rPr>
              <a:t>Invariant:</a:t>
            </a:r>
          </a:p>
          <a:p>
            <a:pPr algn="l"/>
            <a:r>
              <a:rPr sz="1200" b="0">
                <a:solidFill>
                  <a:srgbClr val="64748B"/>
                </a:solidFill>
              </a:rPr>
              <a:t>All pages at depth d are dequeued before</a:t>
            </a:r>
          </a:p>
          <a:p>
            <a:pPr algn="l"/>
            <a:r>
              <a:rPr sz="1200" b="0">
                <a:solidFill>
                  <a:srgbClr val="64748B"/>
                </a:solidFill>
              </a:rPr>
              <a:t>any page at depth d+1 is touched.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00F0FF"/>
                </a:solidFill>
              </a:rPr>
              <a:t>Visual — queue state after each step:</a:t>
            </a:r>
          </a:p>
          <a:p>
            <a:pPr algn="l"/>
            <a:r>
              <a:rPr sz="1100" b="0">
                <a:solidFill>
                  <a:srgbClr val="22C55E"/>
                </a:solidFill>
              </a:rPr>
              <a:t>Init:    [ (/, 0) ]</a:t>
            </a:r>
          </a:p>
          <a:p>
            <a:pPr algn="l"/>
            <a:r>
              <a:rPr sz="1100" b="0">
                <a:solidFill>
                  <a:srgbClr val="22C55E"/>
                </a:solidFill>
              </a:rPr>
              <a:t>Pop /:   [ (/about,1) (/blog,1) (/contact,1) ]</a:t>
            </a:r>
          </a:p>
          <a:p>
            <a:pPr algn="l"/>
            <a:r>
              <a:rPr sz="1100" b="0">
                <a:solidFill>
                  <a:srgbClr val="22C55E"/>
                </a:solidFill>
              </a:rPr>
              <a:t>Pop /about: [ (/blog,1) (/contact,1) (/about/team,2) ]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00F0FF"/>
                </a:solidFill>
              </a:rPr>
              <a:t>Complexity:</a:t>
            </a:r>
          </a:p>
          <a:p>
            <a:pPr algn="l"/>
            <a:r>
              <a:rPr sz="1200" b="0">
                <a:solidFill>
                  <a:srgbClr val="64748B"/>
                </a:solidFill>
              </a:rPr>
              <a:t>  enqueue / dequeue  →  O(1)    space →  O(|V|)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596128" cy="5349240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234440"/>
            <a:ext cx="559612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</a:rPr>
              <a:t>📋  Vector  (structures.py:31)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78308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• Custom Dynamic Array replacing Python list</a:t>
            </a:r>
          </a:p>
          <a:p>
            <a:pPr algn="l"/>
            <a:r>
              <a:rPr sz="1200" b="0">
                <a:solidFill>
                  <a:srgbClr val="F1F5F9"/>
                </a:solidFill>
              </a:rPr>
              <a:t>• Demonstrates textbook memory-reallocation (×2 doubling)</a:t>
            </a:r>
          </a:p>
          <a:p>
            <a:pPr algn="l"/>
            <a:r>
              <a:rPr sz="1200" b="0">
                <a:solidFill>
                  <a:srgbClr val="F1F5F9"/>
                </a:solidFill>
              </a:rPr>
              <a:t>• Tracks visited URLs: push_back() on discovery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8B5CF6"/>
                </a:solidFill>
              </a:rPr>
              <a:t>Key Methods: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push_back(item)      → O(1) amortized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linear_search(target)→ O(N)  [used for visited check]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binary_search(target)→ O(log N)  [when sorted]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get(index)           → O(1)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8B5CF6"/>
                </a:solidFill>
              </a:rPr>
              <a:t>Capacity Doubling: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size==cap → _resize(cap × 2) → copy N items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Amortized O(1) per push_back over N insertions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FACC15"/>
                </a:solidFill>
              </a:rPr>
              <a:t>Why not just use Python set for visited?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→ Vector demonstrates Linear/Binary Search + Array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representation as required by ECE 2103 syllabus.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0FF"/>
                </a:solidFill>
              </a:rPr>
              <a:t>DS 3 — Adjacency List Graph (LinkGraph)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graph.py:32-220  |  G = (V, E)  — Directed Weighted Hyperlink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WebTrace  •  ECE 2103 — Data Structures &amp;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5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34440"/>
            <a:ext cx="5394960" cy="5349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234440"/>
            <a:ext cx="5394960" cy="6400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0FF"/>
                </a:solidFill>
              </a:rPr>
              <a:t>Why Adjacency List over Matrix?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8308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</a:rPr>
              <a:t>Web graphs are SPARSE — avg out-degree ≪ |V|</a:t>
            </a:r>
          </a:p>
          <a:p>
            <a:pPr algn="l"/>
            <a:r>
              <a:rPr sz="9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FACC15"/>
                </a:solidFill>
              </a:rPr>
              <a:t>Matrix requires O(|V|²) memory:</a:t>
            </a:r>
          </a:p>
          <a:p>
            <a:pPr algn="l"/>
            <a:r>
              <a:rPr sz="1200" b="0">
                <a:solidFill>
                  <a:srgbClr val="64748B"/>
                </a:solidFill>
              </a:rPr>
              <a:t>  1000 pages → 1,000,000 cells allocated</a:t>
            </a:r>
          </a:p>
          <a:p>
            <a:pPr algn="l"/>
            <a:r>
              <a:rPr sz="1200" b="0">
                <a:solidFill>
                  <a:srgbClr val="64748B"/>
                </a:solidFill>
              </a:rPr>
              <a:t>  Most cells = 0 (wasted)</a:t>
            </a:r>
          </a:p>
          <a:p>
            <a:pPr algn="l"/>
            <a:r>
              <a:rPr sz="9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22C55E"/>
                </a:solidFill>
              </a:rPr>
              <a:t>Adjacency List requires O(|V| + |E|):</a:t>
            </a:r>
          </a:p>
          <a:p>
            <a:pPr algn="l"/>
            <a:r>
              <a:rPr sz="1200" b="0">
                <a:solidFill>
                  <a:srgbClr val="64748B"/>
                </a:solidFill>
              </a:rPr>
              <a:t>  Only existing hyperlinks stored</a:t>
            </a:r>
          </a:p>
          <a:p>
            <a:pPr algn="l"/>
            <a:r>
              <a:rPr sz="1200" b="0">
                <a:solidFill>
                  <a:srgbClr val="64748B"/>
                </a:solidFill>
              </a:rPr>
              <a:t>  BFS neighbor iteration = O(deg(u)), not O(V)</a:t>
            </a:r>
          </a:p>
          <a:p>
            <a:pPr algn="l"/>
            <a:r>
              <a:rPr sz="9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00F0FF"/>
                </a:solidFill>
              </a:rPr>
              <a:t>Internal Structure (graph.py:49-51):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_adj  : dict[str, list[str]]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_edge_set: dict[str, set[str]]  (dedup)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_weights : dict[tuple, float]  (latency)</a:t>
            </a:r>
          </a:p>
          <a:p>
            <a:pPr algn="l"/>
            <a:r>
              <a:rPr sz="9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00F0FF"/>
                </a:solidFill>
              </a:rPr>
              <a:t>Operations: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add_node(u)         → O(1)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add_edge(u,v,w)     → O(1)  + dedup check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get_outgoing_edges  → O(1) dict lookup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34440"/>
            <a:ext cx="5760720" cy="5349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234440"/>
            <a:ext cx="5760720" cy="6400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325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0FF"/>
                </a:solidFill>
              </a:rPr>
              <a:t>JSON Adjacency List (link_graph.json)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7830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{
  "https://example.com/": [
    "https://example.com/about",
    "https://example.com/blog",
    "https://example.com/contact"
  ],
  "https://example.com/about": [
    "https://example.com/",
    "https://example.com/about/team"
  ],
  "https://example.com/blog": [
    "https://example.com/about"
  ],
  "https://example.com/contact": [],
  "https://example.com/about/team": []
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0FF"/>
                </a:solidFill>
              </a:rPr>
              <a:t>DS 4 &amp; 5 — Min-Heap PQ + Binary Search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structures.py:184-267 (MinHeapPriorityQueue)  |  structures.py:284-427 (BST)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WebTrace  •  ECE 2103 — Data Structures &amp;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6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34440"/>
            <a:ext cx="5577840" cy="5349240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234440"/>
            <a:ext cx="557784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</a:rPr>
              <a:t>⛰  Min-Heap Priority Queue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8308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Used in:  graph.py:138  (Dijkstra's greedy loop)</a:t>
            </a:r>
          </a:p>
          <a:p>
            <a:pPr algn="l"/>
            <a:r>
              <a:rPr sz="9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8B5CF6"/>
                </a:solidFill>
              </a:rPr>
              <a:t>Array representation of complete binary tree: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parent(i)      = (i-1) // 2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left_child(i)  = 2*i + 1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right_child(i) = 2*i + 2</a:t>
            </a:r>
          </a:p>
          <a:p>
            <a:pPr algn="l"/>
            <a:r>
              <a:rPr sz="9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8B5CF6"/>
                </a:solidFill>
              </a:rPr>
              <a:t>Operations (structures.py:208-263):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push(priority, value)  →  O(log N)  [sift-up]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pop()                  →  O(log N)  [sift-down]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peek()                 →  O(1)</a:t>
            </a:r>
          </a:p>
          <a:p>
            <a:pPr algn="l"/>
            <a:r>
              <a:rPr sz="9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8B5CF6"/>
                </a:solidFill>
              </a:rPr>
              <a:t>Heap Item: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HeapItem(priority=dist_ms, value=url_str)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__lt__ compares priority for sift ordering</a:t>
            </a:r>
          </a:p>
          <a:p>
            <a:pPr algn="l"/>
            <a:r>
              <a:rPr sz="9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FACC15"/>
                </a:solidFill>
              </a:rPr>
              <a:t>Min-Heap Invariant: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heap[parent] ≤ heap[child]  at all times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Root always holds minimum latency node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596128" cy="5349240"/>
          </a:xfrm>
          <a:prstGeom prst="rect">
            <a:avLst/>
          </a:prstGeom>
          <a:solidFill>
            <a:srgbClr val="0F172A"/>
          </a:solidFill>
          <a:ln w="127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234440"/>
            <a:ext cx="5596128" cy="64008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722"/>
                </a:solidFill>
              </a:rPr>
              <a:t>🌳  Binary Search Tree (BST)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78308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Used in:  crawler.py:103, 208  (URL index)</a:t>
            </a:r>
          </a:p>
          <a:p>
            <a:pPr algn="l"/>
            <a:r>
              <a:rPr sz="9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FF5722"/>
                </a:solidFill>
              </a:rPr>
              <a:t>BSTNode(key=url, value=CrawledPage)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.left  / .right  →  child pointers</a:t>
            </a:r>
          </a:p>
          <a:p>
            <a:pPr algn="l"/>
            <a:r>
              <a:rPr sz="9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FF5722"/>
                </a:solidFill>
              </a:rPr>
              <a:t>BST Invariant: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left.key &lt; node.key &lt; right.key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Lexicographic URL ordering guaranteed</a:t>
            </a:r>
          </a:p>
          <a:p>
            <a:pPr algn="l"/>
            <a:r>
              <a:rPr sz="9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FF5722"/>
                </a:solidFill>
              </a:rPr>
              <a:t>Operations (structures.py:308-427):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insert(url, page)    → O(log N) avg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search(url)          → O(log N) avg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delete(url)          → O(log N) avg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inorder_traversal()  → O(N)  sorted output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height()             → O(N)</a:t>
            </a:r>
          </a:p>
          <a:p>
            <a:pPr algn="l"/>
            <a:r>
              <a:rPr sz="9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FACC15"/>
                </a:solidFill>
              </a:rPr>
              <a:t>3-Case Deletion (structures.py:351-389):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Case 1: Leaf → remove directly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Case 2: 1 child → splice out</a:t>
            </a:r>
          </a:p>
          <a:p>
            <a:pPr algn="l"/>
            <a:r>
              <a:rPr sz="1100" b="0">
                <a:solidFill>
                  <a:srgbClr val="64748B"/>
                </a:solidFill>
              </a:rPr>
              <a:t>  Case 3: 2 children → replace w/ in-order successor</a:t>
            </a:r>
          </a:p>
          <a:p>
            <a:pPr algn="l"/>
            <a:r>
              <a:rPr sz="9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00F0FF"/>
                </a:solidFill>
              </a:rPr>
              <a:t>API endpoint:  /api/pages/bst-inorder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0FF"/>
                </a:solidFill>
              </a:rPr>
              <a:t>Algorithms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All grounded in actual functions and line numbers from the codebase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WebTrace  •  ECE 2103 — Data Structures &amp;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7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234440"/>
            <a:ext cx="1645920" cy="384048"/>
          </a:xfrm>
          <a:prstGeom prst="rect">
            <a:avLst/>
          </a:prstGeom>
          <a:solidFill>
            <a:srgbClr val="8B5CF6"/>
          </a:solidFill>
          <a:ln w="762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" y="127101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0F19"/>
                </a:solidFill>
              </a:rPr>
              <a:t>Algorithm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47088" y="1234440"/>
            <a:ext cx="2240280" cy="384048"/>
          </a:xfrm>
          <a:prstGeom prst="rect">
            <a:avLst/>
          </a:prstGeom>
          <a:solidFill>
            <a:srgbClr val="0F172A"/>
          </a:solidFill>
          <a:ln w="762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92807" y="1271016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0FF"/>
                </a:solidFill>
              </a:rPr>
              <a:t>Location in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87368" y="1234440"/>
            <a:ext cx="4754880" cy="384048"/>
          </a:xfrm>
          <a:prstGeom prst="rect">
            <a:avLst/>
          </a:prstGeom>
          <a:solidFill>
            <a:srgbClr val="0F172A"/>
          </a:solidFill>
          <a:ln w="762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33088" y="127101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0FF"/>
                </a:solidFill>
              </a:rPr>
              <a:t>What it Does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42248" y="1234440"/>
            <a:ext cx="2331720" cy="384048"/>
          </a:xfrm>
          <a:prstGeom prst="rect">
            <a:avLst/>
          </a:prstGeom>
          <a:solidFill>
            <a:srgbClr val="0F172A"/>
          </a:solidFill>
          <a:ln w="762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87968" y="1271016"/>
            <a:ext cx="2240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0FF"/>
                </a:solidFill>
              </a:rPr>
              <a:t>Complexity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1618488"/>
            <a:ext cx="1645920" cy="694944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" y="1673352"/>
            <a:ext cx="15361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5CF6"/>
                </a:solidFill>
              </a:rPr>
              <a:t>Breadth-First
Search (BFS)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47088" y="1618488"/>
            <a:ext cx="2240280" cy="694944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01952" y="1673352"/>
            <a:ext cx="213055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crawler.py:105-211
WebCrawler.crawl()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87368" y="1618488"/>
            <a:ext cx="4754880" cy="694944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42232" y="1673352"/>
            <a:ext cx="464515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Level-by-level URL discovery. Guarantees
shortest click-path from seed to every page.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42248" y="1618488"/>
            <a:ext cx="2331720" cy="694944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97112" y="1673352"/>
            <a:ext cx="222199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O(|V|+|E|) T
O(|V|) 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2313432"/>
            <a:ext cx="1645920" cy="694944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" y="2368296"/>
            <a:ext cx="15361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5CF6"/>
                </a:solidFill>
              </a:rPr>
              <a:t>Dijkstra's
Shortest Path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47088" y="2313432"/>
            <a:ext cx="2240280" cy="694944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01952" y="2368296"/>
            <a:ext cx="213055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graph.py:109-173
dijkstra_shortest_path()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87368" y="2313432"/>
            <a:ext cx="4754880" cy="694944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42232" y="2368296"/>
            <a:ext cx="464515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Greedy min-latency path via MinHeapPQ.
Edge weights = HTTP response time (ms).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42248" y="2313432"/>
            <a:ext cx="2331720" cy="694944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97112" y="2368296"/>
            <a:ext cx="222199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O((V+E)logV) T
O(V) 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" y="3008376"/>
            <a:ext cx="1645920" cy="694944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" y="3063240"/>
            <a:ext cx="15361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5CF6"/>
                </a:solidFill>
              </a:rPr>
              <a:t>BST In-Order
Traversal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47088" y="3008376"/>
            <a:ext cx="2240280" cy="694944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01952" y="3063240"/>
            <a:ext cx="213055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structures.py:397-411
inorder_traversal()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87368" y="3008376"/>
            <a:ext cx="4754880" cy="694944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42232" y="3063240"/>
            <a:ext cx="464515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Left→Root→Right traversal yields all
crawled pages sorted by URL string.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42248" y="3008376"/>
            <a:ext cx="2331720" cy="694944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97112" y="3063240"/>
            <a:ext cx="222199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O(N) T
O(N) S (stack)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1168" y="3703320"/>
            <a:ext cx="1645920" cy="694944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3758184"/>
            <a:ext cx="15361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5CF6"/>
                </a:solidFill>
              </a:rPr>
              <a:t>URL Normalization
(RFC 3986)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47088" y="3703320"/>
            <a:ext cx="2240280" cy="694944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01952" y="3758184"/>
            <a:ext cx="213055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url_utils.py:83-160
normalize_url()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87368" y="3703320"/>
            <a:ext cx="4754880" cy="694944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42232" y="3758184"/>
            <a:ext cx="464515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Resolve relative → strip fragments → lowercase
→ standardize port, path, trailing slash.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42248" y="3703320"/>
            <a:ext cx="2331720" cy="694944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97112" y="3758184"/>
            <a:ext cx="222199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O(L) where L=URL len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1168" y="4398264"/>
            <a:ext cx="1645920" cy="694944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6032" y="4453128"/>
            <a:ext cx="15361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5CF6"/>
                </a:solidFill>
              </a:rPr>
              <a:t>Politeness
Rate-Limiting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47088" y="4398264"/>
            <a:ext cx="2240280" cy="694944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01952" y="4453128"/>
            <a:ext cx="213055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fetcher.py:137-154
_apply_politeness_delay()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87368" y="4398264"/>
            <a:ext cx="4754880" cy="694944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42232" y="4453128"/>
            <a:ext cx="464515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Computes Δt = t_now − t_last[domain].
Sleeps if Δt &lt; configured delay.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42248" y="4398264"/>
            <a:ext cx="2331720" cy="694944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97112" y="4453128"/>
            <a:ext cx="222199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O(1) per domain check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1168" y="5093208"/>
            <a:ext cx="1645920" cy="694944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6032" y="5148072"/>
            <a:ext cx="15361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5CF6"/>
                </a:solidFill>
              </a:rPr>
              <a:t>robots.txt
Cache Lookup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47088" y="5093208"/>
            <a:ext cx="2240280" cy="694944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901952" y="5148072"/>
            <a:ext cx="213055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fetcher.py:80-115
get_robots_parser()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87368" y="5093208"/>
            <a:ext cx="4754880" cy="694944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42232" y="5148072"/>
            <a:ext cx="464515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Hash map cache per domain. Fetches &amp;
parses /robots.txt once, O(1) subsequent.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42248" y="5093208"/>
            <a:ext cx="2331720" cy="694944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97112" y="5148072"/>
            <a:ext cx="222199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O(1) avg after cache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1168" y="5788152"/>
            <a:ext cx="1645920" cy="694944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56032" y="5843016"/>
            <a:ext cx="15361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5CF6"/>
                </a:solidFill>
              </a:rPr>
              <a:t>Heap Sift-Up
/ Sift-Down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47088" y="5788152"/>
            <a:ext cx="2240280" cy="694944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901952" y="5843016"/>
            <a:ext cx="213055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structures.py:237-263
_sift_up / _sift_down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087368" y="5788152"/>
            <a:ext cx="4754880" cy="694944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42232" y="5843016"/>
            <a:ext cx="464515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Restores min-heap property after push/pop.
Swaps along parent chain until invariant met.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842248" y="5788152"/>
            <a:ext cx="2331720" cy="694944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897112" y="5843016"/>
            <a:ext cx="222199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O(log N) each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0FF"/>
                </a:solidFill>
              </a:rPr>
              <a:t>BFS Traversal — In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crawler.py:105-211  |  WebCrawler.crawl()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WebTrace  •  ECE 2103 — Data Structures &amp;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8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34440"/>
            <a:ext cx="11887200" cy="5349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234440"/>
            <a:ext cx="11887200" cy="6400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71600"/>
            <a:ext cx="116128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ALGORITHM  BFS-Crawl(seed_url, max_depth, max_pages):
  1.  canonical_seed ← normalize_url(seed_url)                  [url_utils.py:83]
  2.  queue ← deque([ CrawlTask(canonical_seed, depth=0) ])      [crawler.py:114]
  3.  visited.push_back(canonical_seed)                           [crawler.py:115]
  4.  graph.add_node(canonical_seed)                              [crawler.py:116]
  5.  WHILE queue NOT empty  AND  |crawled_pages| &lt; max_pages:
  6.      task ← queue.popleft()                  ← FIFO dequeue
  7.      IF task.depth &gt; max_depth → CONTINUE
  8.      html ← fetcher.fetch(task.url)          ← robots.txt + politeness + HTTP GET
  9.      IF html is None → CONTINUE              ← 403, timeout, non-HTML, robots block
  10.     title, links, snippet, blocks, docs, urls
               ← extract_comprehensive_page_data(html, base_url=task.url)   [parser.py:27]
  11.     FOR each raw_link in links:
  12.         norm_link ← normalize_url(raw_link, base_url=task.url)  [url_utils.py:83]
  13.         IF NOT is_same_domain(norm_link, canonical_seed) → SKIP  [url_utils.py:56]
  14.         graph.add_edge(task.url, norm_link, weight=elapsed_ms)   [graph.py:66]
  15.         IF norm_link NOT IN visited:             ← O(N) linear search via Vector
  16.             visited.push_back(norm_link)          ← immediate marking prevents dup
  17.             queue.append( CrawlTask(norm_link, task.depth+1, parent=task.url) )
  18.     page ← CrawledPage(url, title, depth, parent, links, snippet, ...)
  19.     crawled_pages.append(page)
  20.     bst_index.insert(task.url, page)             ← O(log N) BST insert
  21. RETURN crawled_pages, graph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0FF"/>
                </a:solidFill>
              </a:rPr>
              <a:t>Dijkstra's Shortest Path — In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graph.py:109-173  |  dijkstra_shortest_path(start, target)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WebTrace  •  ECE 2103 — Data Structures &amp;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9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34440"/>
            <a:ext cx="6766560" cy="5349240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234440"/>
            <a:ext cx="676656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Pseudocode  (graph.py:109)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83080"/>
            <a:ext cx="6492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ALGORITHM  Dijkstra(graph, start, target):
  dist[v] ← ∞  for all v in graph.nodes
  prev[v] ← None
  dist[start] ← 0
  pq ← MinHeapPriorityQueue()
  pq.push(0.0, start)
  visited ← set()
  WHILE pq NOT empty:
    (d, u) ← pq.pop()       ← O(log N) extract-min
    IF u in visited → CONTINUE
    visited.add(u)
    IF u == target → BREAK
    FOR each v in graph.get_outgoing_edges(u):
      w   ← graph.get_edge_weight(u, v)  [latency ms]
      alt ← d + w
      IF alt &lt; dist[v]:
        dist[v] ← alt
        prev[v] ← u
        pq.push(alt, v)     ← O(log N) insert
  PATH ← []
  curr ← target
  WHILE curr is not None:
    PATH.prepend(curr)
    curr ← prev[curr]
  RETURN dist[target], PATH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234440"/>
            <a:ext cx="4572000" cy="5349240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234440"/>
            <a:ext cx="457200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13258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Example Trace (latency weights)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78308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</a:rPr>
              <a:t>Graph edges (ms latency):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/  →  /about    120 ms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/  →  /blog      80 ms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/blog → /about   50 ms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/about → /team   60 ms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8B5CF6"/>
                </a:solidFill>
              </a:rPr>
              <a:t>Find shortest: / → /about/team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22C55E"/>
                </a:solidFill>
              </a:rPr>
              <a:t>Step 1: pop(0.0, /)    dist[/]=0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push(120, /about)  push(80, /blog)</a:t>
            </a:r>
          </a:p>
          <a:p>
            <a:pPr algn="l"/>
            <a:r>
              <a:rPr sz="1000" b="0">
                <a:solidFill>
                  <a:srgbClr val="22C55E"/>
                </a:solidFill>
              </a:rPr>
              <a:t>Step 2: pop(80, /blog) dist[/blog]=80</a:t>
            </a:r>
          </a:p>
          <a:p>
            <a:pPr algn="l"/>
            <a:r>
              <a:rPr sz="1000" b="0">
                <a:solidFill>
                  <a:srgbClr val="FACC15"/>
                </a:solidFill>
              </a:rPr>
              <a:t>  push(130, /about)  ← 80+50 &lt; 120!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Step 3: pop(120, /about) → stale, skip</a:t>
            </a:r>
          </a:p>
          <a:p>
            <a:pPr algn="l"/>
            <a:r>
              <a:rPr sz="1000" b="0">
                <a:solidFill>
                  <a:srgbClr val="22C55E"/>
                </a:solidFill>
              </a:rPr>
              <a:t>Step 4: pop(130, /about) dist[/about]=130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push(190, /team) ← 130+60</a:t>
            </a:r>
          </a:p>
          <a:p>
            <a:pPr algn="l"/>
            <a:r>
              <a:rPr sz="1000" b="0">
                <a:solidFill>
                  <a:srgbClr val="22C55E"/>
                </a:solidFill>
              </a:rPr>
              <a:t>Step 5: pop(190, /team) → TARGET!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00F0FF"/>
                </a:solidFill>
              </a:rPr>
              <a:t>Shortest Path: / → /blog → /about → /team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Total cost: 190 ms  (vs 180 ms via /about)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00F0FF"/>
                </a:solidFill>
              </a:rPr>
              <a:t>API: POST /api/graph/shortest-path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0FF"/>
                </a:solidFill>
              </a:rPr>
              <a:t>Project Structure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3-layer architecture: React UI  ↔  Flask API  ↔  Python DSA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WebTrace  •  ECE 2103 — Data Structures &amp;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10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34440"/>
            <a:ext cx="4846320" cy="5349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234440"/>
            <a:ext cx="4846320" cy="6400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0FF"/>
                </a:solidFill>
              </a:rPr>
              <a:t>📁  Repository Layout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83080"/>
            <a:ext cx="4572000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</a:rPr>
              <a:t>DSA_PROJECT_WEB/
│
├── webtrace/
│   ├── app.py         Flask REST API server
│   ├── crawler.py     BFS engine + CrawlTask
│   ├── structures.py  Vector, MinHeap, BST
│   ├── graph.py       LinkGraph + Dijkstra
│   ├── fetcher.py     HTTP + robots.txt
│   ├── parser.py      BeautifulSoup4 DOM
│   ├── url_utils.py   URL normalization
│   ├── exporter.py    CSV + JSON output
│   ├── main.py        CLI driver
│   ├── interactive.py Console prompt UI
│   ├── demo_bfs.py    In-memory BFS sim
│   ├── output/        crawled_pages.csv
│   │                  link_graph.json
│   └── tests/         8 pytest modules
│
├── frontend/          React + Tailwind UI
│   ├── src/App.jsx    Root component
│   └── src/components/
│       ├── CrawlForm.jsx
│       ├── NetworkGraph.jsx  vis-network
│       ├── PagesTable.jsx
│       ├── ContentsView.jsx
│       ├── DsaExplainer.jsx
│       └── StatCards.jsx
│
└── requirements.txt   requests, bs4, pytest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1234440"/>
            <a:ext cx="6400800" cy="5349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1234440"/>
            <a:ext cx="6400800" cy="6400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132588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0FF"/>
                </a:solidFill>
              </a:rPr>
              <a:t>Architecture 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828800"/>
            <a:ext cx="5760720" cy="594360"/>
          </a:xfrm>
          <a:prstGeom prst="rect">
            <a:avLst/>
          </a:prstGeom>
          <a:solidFill>
            <a:srgbClr val="8B5CF6"/>
          </a:solidFill>
          <a:ln w="6350"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6752" y="1874519"/>
            <a:ext cx="562355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B0F19"/>
                </a:solidFill>
              </a:rPr>
              <a:t>React Dashboard (frontend/src/)
CrawlForm  StatCards  NetworkGraph  PagesTable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743200"/>
            <a:ext cx="5760720" cy="594360"/>
          </a:xfrm>
          <a:prstGeom prst="rect">
            <a:avLst/>
          </a:prstGeom>
          <a:solidFill>
            <a:srgbClr val="00F0FF"/>
          </a:solidFill>
          <a:ln w="6350"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16752" y="2788920"/>
            <a:ext cx="562355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B0F19"/>
                </a:solidFill>
              </a:rPr>
              <a:t>Flask REST API (webtrace/app.py)
POST /api/crawl   GET /api/pages/bst-inorder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657600"/>
            <a:ext cx="5760720" cy="594360"/>
          </a:xfrm>
          <a:prstGeom prst="rect">
            <a:avLst/>
          </a:prstGeom>
          <a:solidFill>
            <a:srgbClr val="22C55E"/>
          </a:solidFill>
          <a:ln w="6350"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6752" y="3703320"/>
            <a:ext cx="562355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B0F19"/>
                </a:solidFill>
              </a:rPr>
              <a:t>WebCrawler Engine (crawler.py)
BFS Queue  Visited Vector  BST Index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4572000"/>
            <a:ext cx="5760720" cy="594360"/>
          </a:xfrm>
          <a:prstGeom prst="rect">
            <a:avLst/>
          </a:prstGeom>
          <a:solidFill>
            <a:srgbClr val="FACC15"/>
          </a:solidFill>
          <a:ln w="6350"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16752" y="4617720"/>
            <a:ext cx="5623559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B0F19"/>
                </a:solidFill>
              </a:rPr>
              <a:t>DSA Layer  |  graph.py  |  structures.py
LinkGraph + Dijkstra   Vector  MinHeap  BST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5486400"/>
            <a:ext cx="2697480" cy="548640"/>
          </a:xfrm>
          <a:prstGeom prst="rect">
            <a:avLst/>
          </a:prstGeom>
          <a:solidFill>
            <a:srgbClr val="64748B"/>
          </a:solidFill>
          <a:ln w="6350"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16752" y="553212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B0F19"/>
                </a:solidFill>
              </a:rPr>
              <a:t>Fetcher
HTTP + robots.txt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6840" y="5486400"/>
            <a:ext cx="2697480" cy="548640"/>
          </a:xfrm>
          <a:prstGeom prst="rect">
            <a:avLst/>
          </a:prstGeom>
          <a:solidFill>
            <a:srgbClr val="64748B"/>
          </a:solidFill>
          <a:ln w="6350"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9992" y="553212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B0F19"/>
                </a:solidFill>
              </a:rPr>
              <a:t>Parser
BeautifulSoup4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F0FF"/>
                </a:solidFill>
              </a:rP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3832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F0FF"/>
                </a:solidFill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297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F0FF"/>
                </a:solidFill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2303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F0FF"/>
                </a:solidFill>
              </a:rPr>
              <a:t>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0FF"/>
                </a:solidFill>
              </a:rPr>
              <a:t>How It Works — 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From seed URL to exported graph and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WebTrace  •  ECE 2103 — Data Structures &amp;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11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261872"/>
            <a:ext cx="3749039" cy="1371600"/>
          </a:xfrm>
          <a:prstGeom prst="rect">
            <a:avLst/>
          </a:prstGeom>
          <a:solidFill>
            <a:srgbClr val="0F172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261872"/>
            <a:ext cx="365760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" y="1673351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0F19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353312"/>
            <a:ext cx="32003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User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764792"/>
            <a:ext cx="320039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Seed URL, max_depth, max_pages, delay, respect_robots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87368" y="1261872"/>
            <a:ext cx="3749039" cy="1371600"/>
          </a:xfrm>
          <a:prstGeom prst="rect">
            <a:avLst/>
          </a:prstGeom>
          <a:solidFill>
            <a:srgbClr val="0F172A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87368" y="1261872"/>
            <a:ext cx="365760" cy="13716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23944" y="1673351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0F19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353312"/>
            <a:ext cx="32003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0FF"/>
                </a:solidFill>
              </a:rPr>
              <a:t>URL Canonicalize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1764792"/>
            <a:ext cx="320039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normalize_url() — resolve relative, strip #fragment,
lowercase scheme+host, strip :80/:443 (url_utils.py:83)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3568" y="1261872"/>
            <a:ext cx="3749039" cy="1371600"/>
          </a:xfrm>
          <a:prstGeom prst="rect">
            <a:avLst/>
          </a:prstGeom>
          <a:solidFill>
            <a:srgbClr val="0F172A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73568" y="1261872"/>
            <a:ext cx="365760" cy="13716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0144" y="1673351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0F19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1353312"/>
            <a:ext cx="32003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0FF"/>
                </a:solidFill>
              </a:rPr>
              <a:t>Initialize BFS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1764792"/>
            <a:ext cx="320039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Enqueue CrawlTask(seed,depth=0) → visited.push_back(seed)
→ graph.add_node(seed)  [crawler.py:114-116]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2798063"/>
            <a:ext cx="3749039" cy="1371600"/>
          </a:xfrm>
          <a:prstGeom prst="rect">
            <a:avLst/>
          </a:prstGeom>
          <a:solidFill>
            <a:srgbClr val="0F172A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2798063"/>
            <a:ext cx="365760" cy="13716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7744" y="3209544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0F19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2889503"/>
            <a:ext cx="32003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CC15"/>
                </a:solidFill>
              </a:rPr>
              <a:t>Dequeue Task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300983"/>
            <a:ext cx="320039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queue.popleft() — FIFO order ensures BFS
Depth guard: skip if depth &gt; max_depth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87368" y="2798063"/>
            <a:ext cx="3749039" cy="1371600"/>
          </a:xfrm>
          <a:prstGeom prst="rect">
            <a:avLst/>
          </a:prstGeom>
          <a:solidFill>
            <a:srgbClr val="0F172A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87368" y="2798063"/>
            <a:ext cx="36576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23944" y="3209544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0F19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4568" y="2889503"/>
            <a:ext cx="32003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Fetch +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4568" y="3300983"/>
            <a:ext cx="320039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Fetcher: robots.txt check → politeness delay → HTTP GET
Returns HTML string or None [fetcher.py:156-189]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73568" y="2798063"/>
            <a:ext cx="3749039" cy="1371600"/>
          </a:xfrm>
          <a:prstGeom prst="rect">
            <a:avLst/>
          </a:prstGeom>
          <a:solidFill>
            <a:srgbClr val="0F172A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73568" y="2798063"/>
            <a:ext cx="36576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0144" y="3209544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0F19"/>
                </a:solidFill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0768" y="2889503"/>
            <a:ext cx="32003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Parse HTML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0768" y="3300983"/>
            <a:ext cx="320039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extract_comprehensive_page_data(): title, links,
snippet, text_blocks, documents, all_urls [parser.py:27]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334256"/>
            <a:ext cx="3749039" cy="1371600"/>
          </a:xfrm>
          <a:prstGeom prst="rect">
            <a:avLst/>
          </a:prstGeom>
          <a:solidFill>
            <a:srgbClr val="0F172A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334256"/>
            <a:ext cx="365760" cy="13716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7744" y="4745736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0F19"/>
                </a:solidFill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425696"/>
            <a:ext cx="32003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0FF"/>
                </a:solidFill>
              </a:rPr>
              <a:t>Process Links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4837176"/>
            <a:ext cx="320039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For each link: normalize → domain check → add_edge(u,v,weight)
If not in visited: push_back + enqueue [crawler.py:171-191]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87368" y="4334256"/>
            <a:ext cx="3749039" cy="1371600"/>
          </a:xfrm>
          <a:prstGeom prst="rect">
            <a:avLst/>
          </a:prstGeom>
          <a:solidFill>
            <a:srgbClr val="0F172A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87368" y="4334256"/>
            <a:ext cx="365760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23944" y="4745736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0F19"/>
                </a:solidFill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44568" y="4425696"/>
            <a:ext cx="32003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BST Insert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44568" y="4837176"/>
            <a:ext cx="320039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bst_index.insert(url, CrawledPage)  [crawler.py:208]
Lexicographic index for sorted retrieval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73568" y="4334256"/>
            <a:ext cx="3749039" cy="1371600"/>
          </a:xfrm>
          <a:prstGeom prst="rect">
            <a:avLst/>
          </a:prstGeom>
          <a:solidFill>
            <a:srgbClr val="0F172A"/>
          </a:solidFill>
          <a:ln w="1524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973568" y="4334256"/>
            <a:ext cx="36576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10144" y="4745736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B0F19"/>
                </a:solidFill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0768" y="4425696"/>
            <a:ext cx="32003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722"/>
                </a:solidFill>
              </a:rPr>
              <a:t>Export + Display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30768" y="4837176"/>
            <a:ext cx="320039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export_all() → CSV + JSON  |  Flask returns JSON
React renders NetworkGraph, PagesTable, ContentsView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0FF"/>
                </a:solidFill>
              </a:rPr>
              <a:t>Fetcher — robots.txt Compliance &amp; Politeness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fetcher.py  |  Hash Map caching for O(1) per-domain lookups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WebTrace  •  ECE 2103 — Data Structures &amp;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12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34440"/>
            <a:ext cx="5577840" cy="5349240"/>
          </a:xfrm>
          <a:prstGeom prst="rect">
            <a:avLst/>
          </a:prstGeom>
          <a:solidFill>
            <a:srgbClr val="0F172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234440"/>
            <a:ext cx="557784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🤖  robots.txt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8308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</a:rPr>
              <a:t>_robots_cache: dict[str, RobotFileParser]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Key: 'https://example.com' (domain root)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Value: parsed RobotFileParser instance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22C55E"/>
                </a:solidFill>
              </a:rPr>
              <a:t>get_robots_parser(url)  [fetcher.py:80]: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1. Extract domain_root from URL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2. Check _robots_cache[domain_root]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   HIT → return cached parser  (O(1))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   MISS → GET /robots.txt → parse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         → cache result → return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22C55E"/>
                </a:solidFill>
              </a:rPr>
              <a:t>can_fetch(url)  [fetcher.py:117]: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rp.can_fetch(user_agent, url)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Falls back to wildcard '*' agent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Returns False → fetch() returns None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FACC15"/>
                </a:solidFill>
              </a:rPr>
              <a:t>HTTP 401/403 on robots.txt → disallow_all=True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HTTP 404/other → allow_all=True (default allow)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596128" cy="5349240"/>
          </a:xfrm>
          <a:prstGeom prst="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234440"/>
            <a:ext cx="5596128" cy="64008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CC15"/>
                </a:solidFill>
              </a:rPr>
              <a:t>⏱  Politeness Rate-Limiting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78308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ACC15"/>
                </a:solidFill>
              </a:rPr>
              <a:t>_last_request_time: dict[str, float]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Key: domain key (e.g. 'example.com')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Value: UNIX timestamp of last request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FACC15"/>
                </a:solidFill>
              </a:rPr>
              <a:t>_apply_politeness_delay(url)  [fetcher.py:137]: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domain_key ← get_domain_key(url)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now ← time.time()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last ← _last_request_time.get(domain_key, 0)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elapsed ← now - last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IF elapsed &lt; self.delay: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  time.sleep(self.delay - elapsed)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_last_request_time[domain_key] ← now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FACC15"/>
                </a:solidFill>
              </a:rPr>
              <a:t>fetch(url)  [fetcher.py:156]: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Step 1: can_fetch() → robots check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Step 2: _apply_politeness_delay()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Step 3: session.get(url, timeout=5.0)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Step 4: Check status 200 + text/html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Returns: HTML str | None on failure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Default delay: 1.0s  |  Configurable via --delay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User-Agent: custom WebTrace/1.0 string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0FF"/>
                </a:solidFill>
              </a:rPr>
              <a:t>URL Normalization &amp; Domain Restriction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url_utils.py  |  Ensuring unique canonical vertex identities in the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WebTrace  •  ECE 2103 — Data Structures &amp;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13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34440"/>
            <a:ext cx="5760720" cy="5349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234440"/>
            <a:ext cx="5760720" cy="6400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0FF"/>
                </a:solidFill>
              </a:rPr>
              <a:t>normalize_url(url, base_url='')  [url_utils.py:83]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83080"/>
            <a:ext cx="5486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F0FF"/>
                </a:solidFill>
              </a:rPr>
              <a:t>Step 1 — Resolve relative URLs: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'/about' + base='https://ex.com/'</a:t>
            </a:r>
          </a:p>
          <a:p>
            <a:pPr algn="l"/>
            <a:r>
              <a:rPr sz="1000" b="0">
                <a:solidFill>
                  <a:srgbClr val="22C55E"/>
                </a:solidFill>
              </a:rPr>
              <a:t>         → 'https://ex.com/about'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00F0FF"/>
                </a:solidFill>
              </a:rPr>
              <a:t>Step 2 — Strip URL fragments: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'https://ex.com/page#section'</a:t>
            </a:r>
          </a:p>
          <a:p>
            <a:pPr algn="l"/>
            <a:r>
              <a:rPr sz="1000" b="0">
                <a:solidFill>
                  <a:srgbClr val="22C55E"/>
                </a:solidFill>
              </a:rPr>
              <a:t>         → 'https://ex.com/page'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00F0FF"/>
                </a:solidFill>
              </a:rPr>
              <a:t>Step 3 — Validate scheme (http/https only):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'javascript:', 'mailto:', 'tel:' → None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00F0FF"/>
                </a:solidFill>
              </a:rPr>
              <a:t>Step 4 — Lowercase scheme + hostname:</a:t>
            </a:r>
          </a:p>
          <a:p>
            <a:pPr algn="l"/>
            <a:r>
              <a:rPr sz="1000" b="0">
                <a:solidFill>
                  <a:srgbClr val="22C55E"/>
                </a:solidFill>
              </a:rPr>
              <a:t>  'HTTPS://EXAMPLE.COM' → 'https://example.com'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00F0FF"/>
                </a:solidFill>
              </a:rPr>
              <a:t>Step 5 — Strip default ports:</a:t>
            </a:r>
          </a:p>
          <a:p>
            <a:pPr algn="l"/>
            <a:r>
              <a:rPr sz="1000" b="0">
                <a:solidFill>
                  <a:srgbClr val="22C55E"/>
                </a:solidFill>
              </a:rPr>
              <a:t>  'http://ex.com:80/p' → 'http://ex.com/p'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00F0FF"/>
                </a:solidFill>
              </a:rPr>
              <a:t>Step 6 — Normalize path: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Replace '//' → '/'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Remove trailing slash (non-root)</a:t>
            </a:r>
          </a:p>
          <a:p>
            <a:pPr algn="l"/>
            <a:r>
              <a:rPr sz="1000" b="0">
                <a:solidFill>
                  <a:srgbClr val="22C55E"/>
                </a:solidFill>
              </a:rPr>
              <a:t>  'https://ex.com/a/' → 'https://ex.com/a'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FACC15"/>
                </a:solidFill>
              </a:rPr>
              <a:t>WHY THIS MATTERS: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Without canonicalization, 'http://EX.COM/about/'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and 'https://ex.com/about' appear as 2 nodes in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the graph — causing duplicate fetches and cycles!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1234440"/>
            <a:ext cx="5486400" cy="5349240"/>
          </a:xfrm>
          <a:prstGeom prst="rect">
            <a:avLst/>
          </a:prstGeom>
          <a:solidFill>
            <a:srgbClr val="0F172A"/>
          </a:solidFill>
          <a:ln w="127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234440"/>
            <a:ext cx="5486400" cy="64008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3258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722"/>
                </a:solidFill>
              </a:rPr>
              <a:t>is_same_domain()  [url_utils.py:56]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783080"/>
            <a:ext cx="5212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722"/>
                </a:solidFill>
              </a:rPr>
              <a:t>Enforces the domain-restriction boundary: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Only internal hyperlinks are added to the graph.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External links are silently discarded.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FF5722"/>
                </a:solidFill>
              </a:rPr>
              <a:t>get_domain_key(url):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1. Parse hostname from URL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2. Lowercase the hostname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3. Strip leading 'www.'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4. Strip port number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FF5722"/>
                </a:solidFill>
              </a:rPr>
              <a:t>Examples:</a:t>
            </a:r>
          </a:p>
          <a:p>
            <a:pPr algn="l"/>
            <a:r>
              <a:rPr sz="1000" b="0">
                <a:solidFill>
                  <a:srgbClr val="22C55E"/>
                </a:solidFill>
              </a:rPr>
              <a:t>  'https://www.example.com/p'  → 'example.com'</a:t>
            </a:r>
          </a:p>
          <a:p>
            <a:pPr algn="l"/>
            <a:r>
              <a:rPr sz="1000" b="0">
                <a:solidFill>
                  <a:srgbClr val="22C55E"/>
                </a:solidFill>
              </a:rPr>
              <a:t>  'http://example.com:8080/x'  → 'example.com'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'https://other.com/y'        → 'other.com'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FF5722"/>
                </a:solidFill>
              </a:rPr>
              <a:t>Crawler check [crawler.py:177]: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IF NOT is_same_domain(link, seed):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    CONTINUE  ← skip external link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FACC15"/>
                </a:solidFill>
              </a:rPr>
              <a:t>Domain Scoping guarantees the BFS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explores a finite subgraph G_domain ⊆ G_web,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not the entire infinite World Wide Web!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0FF"/>
                </a:solidFill>
              </a:rPr>
              <a:t>HTML Parser + Data Exporter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parser.py  |  exporter.py  |  Beautiful content extraction + CSV/JSON serialization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WebTrace  •  ECE 2103 — Data Structures &amp;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14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34440"/>
            <a:ext cx="5577840" cy="5349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234440"/>
            <a:ext cx="5577840" cy="6400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0FF"/>
                </a:solidFill>
              </a:rPr>
              <a:t>🔍  extract_comprehensive_page_data()  [parser.py:27]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8308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Returns: (title, raw_links, snippet, text_blocks,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        documents, all_urls)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00F0FF"/>
                </a:solidFill>
              </a:rPr>
              <a:t>Step 1: Sanitize — remove &lt;script&gt;, &lt;style&gt;, &lt;svg&gt;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00F0FF"/>
                </a:solidFill>
              </a:rPr>
              <a:t>Step 2: Extract &lt;title&gt; tag → page.title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00F0FF"/>
                </a:solidFill>
              </a:rPr>
              <a:t>Step 3: All &lt;a href=...&gt; tags: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Skip: javascript:, mailto:, tel:, bare #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Resolve absolute URL via urljoin(base, href)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Classify: check extension in DOCUMENT_EXTENSIONS: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.pdf .docx .xlsx .pptx .zip .csv .json .xml → documents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00F0FF"/>
                </a:solidFill>
              </a:rPr>
              <a:t>Step 4: Text Blocks (3 priority tiers):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Tier 1: CSS class 'quote' / &lt;blockquote&gt;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   → extracts quote text + author + tags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Tier 2: Content containers by class regex: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   author-description, article-body, summary...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Tier 3: &lt;h1-h6&gt;, &lt;p&gt;, &lt;li&gt;, &lt;dt&gt;, &lt;dd&gt;, &lt;td&gt;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Fallback: raw soup.get_text() first 500 chars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00F0FF"/>
                </a:solidFill>
              </a:rPr>
              <a:t>Step 5: Snippet — meta description or text_blocks[0]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Truncated at 250 chars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596128" cy="5349240"/>
          </a:xfrm>
          <a:prstGeom prst="rect">
            <a:avLst/>
          </a:prstGeom>
          <a:solidFill>
            <a:srgbClr val="0F172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234440"/>
            <a:ext cx="5596128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💾  Exporter  [exporter.py]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78308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</a:rPr>
              <a:t>export_all(pages, graph, output_dir)  [exporter.py:100]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Writes both artifacts in one call after crawl completes.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22C55E"/>
                </a:solidFill>
              </a:rPr>
              <a:t>1. crawled_pages.csv  [exporter.py:28]:</a:t>
            </a:r>
          </a:p>
          <a:p>
            <a:pPr algn="l"/>
            <a:r>
              <a:rPr sz="1000" b="0">
                <a:solidFill>
                  <a:srgbClr val="F1F5F9"/>
                </a:solidFill>
              </a:rPr>
              <a:t>  Columns: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  URL, Title, Depth, Parent URL,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  Outgoing Links, Content Snippet,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  Extracted Items (first 5 text blocks)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Captures BFS search-tree structure: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  depth = hop distance from seed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  parent_url = the page that first linked here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000" b="1">
                <a:solidFill>
                  <a:srgbClr val="22C55E"/>
                </a:solidFill>
              </a:rPr>
              <a:t>CSV Sample:</a:t>
            </a:r>
          </a:p>
          <a:p>
            <a:pPr algn="l"/>
            <a:r>
              <a:rPr sz="900" b="0">
                <a:solidFill>
                  <a:srgbClr val="64748B"/>
                </a:solidFill>
              </a:rPr>
              <a:t>  URL,Title,Depth,Parent URL,Outgoing</a:t>
            </a:r>
          </a:p>
          <a:p>
            <a:pPr algn="l"/>
            <a:r>
              <a:rPr sz="900" b="0">
                <a:solidFill>
                  <a:srgbClr val="64748B"/>
                </a:solidFill>
              </a:rPr>
              <a:t>  https://ex.com/,Home,0,—,3</a:t>
            </a:r>
          </a:p>
          <a:p>
            <a:pPr algn="l"/>
            <a:r>
              <a:rPr sz="900" b="0">
                <a:solidFill>
                  <a:srgbClr val="64748B"/>
                </a:solidFill>
              </a:rPr>
              <a:t>  https://ex.com/about,About,1,https://ex.com/,2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22C55E"/>
                </a:solidFill>
              </a:rPr>
              <a:t>2. link_graph.json  [exporter.py:69]: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json.dump(graph.to_dict(), f, indent=2)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Format: { url: [neighbor_url, ...], ... }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Adjacency list serialized for visualization,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network analysis, or PageRank calculation.</a:t>
            </a:r>
          </a:p>
          <a:p>
            <a:pPr algn="l"/>
            <a:r>
              <a:rPr sz="800" b="0">
                <a:solidFill>
                  <a:srgbClr val="F1F5F9"/>
                </a:solidFill>
              </a:rPr>
              <a:t/>
            </a:r>
          </a:p>
          <a:p>
            <a:pPr algn="l"/>
            <a:r>
              <a:rPr sz="1100" b="1">
                <a:solidFill>
                  <a:srgbClr val="00F0FF"/>
                </a:solidFill>
              </a:rPr>
              <a:t>Download via Flask API: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GET /api/download/csv   → crawled_pages.csv</a:t>
            </a:r>
          </a:p>
          <a:p>
            <a:pPr algn="l"/>
            <a:r>
              <a:rPr sz="1000" b="0">
                <a:solidFill>
                  <a:srgbClr val="64748B"/>
                </a:solidFill>
              </a:rPr>
              <a:t>  GET /api/download/json  → link_graph.json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0FF"/>
                </a:solidFill>
              </a:rPr>
              <a:t>System Outputs &amp; Web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React + Tailwind interactive visualization at http://127.0.0.1:5000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WebTrace  •  ECE 2103 — Data Structures &amp;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15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234440"/>
            <a:ext cx="5486400" cy="1207008"/>
          </a:xfrm>
          <a:prstGeom prst="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234440"/>
            <a:ext cx="548640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" y="1325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0FF"/>
                </a:solidFill>
              </a:rPr>
              <a:t>📄  crawled_pages.csv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1709928"/>
            <a:ext cx="53035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BFS traversal metadata: URL, Title, Depth, Parent URL, Outgoing count,
Snippet, Top 5 text blocks. One row per crawled page.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234440"/>
            <a:ext cx="5486400" cy="1207008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34440"/>
            <a:ext cx="54864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3258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🔗  link_graph.json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709928"/>
            <a:ext cx="53035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Full adjacency list of the site graph. Each key is a page URL, value is
list of outgoing hyperlink targets. Ready for PageRank / NetworkX.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2496312"/>
            <a:ext cx="5486400" cy="1207008"/>
          </a:xfrm>
          <a:prstGeom prst="rect">
            <a:avLst/>
          </a:prstGeom>
          <a:solidFill>
            <a:srgbClr val="0F172A"/>
          </a:solidFill>
          <a:ln w="127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" y="2496312"/>
            <a:ext cx="5486400" cy="4572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" y="25877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722"/>
                </a:solidFill>
              </a:rPr>
              <a:t>🕸  Visual Network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" y="2971800"/>
            <a:ext cx="53035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Force-directed node-link diagram via vis-network library.
Nodes colored by BFS depth: Violet=Seed, Cyan=Depth1, Coral=Depth2+.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496312"/>
            <a:ext cx="5486400" cy="1207008"/>
          </a:xfrm>
          <a:prstGeom prst="rect">
            <a:avLst/>
          </a:prstGeom>
          <a:solidFill>
            <a:srgbClr val="0F172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496312"/>
            <a:ext cx="548640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25877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📋  Crawled Pages 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2971800"/>
            <a:ext cx="53035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Sortable, searchable tabular view of all CrawledPage records.
Displays URL, Title, Depth, Parent, Outgoing count.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758184"/>
            <a:ext cx="5486400" cy="1207008"/>
          </a:xfrm>
          <a:prstGeom prst="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1168" y="3758184"/>
            <a:ext cx="5486400" cy="457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" y="38496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CC15"/>
                </a:solidFill>
              </a:rPr>
              <a:t>📝  Extracted 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" y="4233672"/>
            <a:ext cx="53035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Per-page content view: text blocks, quotes, downloadable documents,
all discovered URLs. From parser.py extract_comprehensive_page_data().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758184"/>
            <a:ext cx="5486400" cy="1207008"/>
          </a:xfrm>
          <a:prstGeom prst="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758184"/>
            <a:ext cx="548640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38496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0FF"/>
                </a:solidFill>
              </a:rPr>
              <a:t>🛣  Shortest-Path Query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4233672"/>
            <a:ext cx="53035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POST /api/graph/shortest-path {start_url, target_url}
Runs Dijkstra via MinHeapPriorityQueue. Returns path + total latency.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" y="5020056"/>
            <a:ext cx="5486400" cy="1207008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1168" y="5020056"/>
            <a:ext cx="54864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" y="511149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🌳  BST In-Order Listing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" y="5495544"/>
            <a:ext cx="53035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GET /api/pages/bst-inorder — returns all crawled pages
sorted lexicographically by URL via BST.inorder_traversal().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5020056"/>
            <a:ext cx="5486400" cy="1207008"/>
          </a:xfrm>
          <a:prstGeom prst="rect">
            <a:avLst/>
          </a:prstGeom>
          <a:solidFill>
            <a:srgbClr val="0F172A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5020056"/>
            <a:ext cx="5486400" cy="457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511149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</a:rPr>
              <a:t>⬇  File Downloads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3368" y="5495544"/>
            <a:ext cx="53035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GET /api/download/csv   → crawled_pages.csv
GET /api/download/json  → link_graph.json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0FF"/>
                </a:solidFill>
              </a:rPr>
              <a:t>Example BFS Trace — Mini Site (7 Pages)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demo_bfs.py  |  Manually tracing queue, visited, and adjacency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WebTrace  •  ECE 2103 — Data Structures &amp;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16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34440"/>
            <a:ext cx="4114800" cy="5349240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234440"/>
            <a:ext cx="411480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Mini Site Topology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8308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Seed: https://example.com/         (Depth 0)
│
├─→ /about         (Depth 1)
│   ├─→ /about/team    (Depth 2)
│   ├─→ /about/history (Depth 2)
│   └─→ /  [BACK LINK — cycle!]
│
├─→ /products      (Depth 1)
│   ├─→ /products/software  (Depth 2)
│   └─→ /about/team   [cross-link]
│
└─→ /contact       (Depth 1)
max_depth=2   max_pages=10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234440"/>
            <a:ext cx="7498079" cy="5349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234440"/>
            <a:ext cx="7498079" cy="6400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325880"/>
            <a:ext cx="7223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0FF"/>
                </a:solidFill>
              </a:rPr>
              <a:t>BFS Execution Trace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1783080"/>
            <a:ext cx="502920" cy="347472"/>
          </a:xfrm>
          <a:prstGeom prst="rect">
            <a:avLst/>
          </a:prstGeom>
          <a:solidFill>
            <a:srgbClr val="00F0FF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4296" y="1810512"/>
            <a:ext cx="4297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0F19"/>
                </a:solidFill>
              </a:rPr>
              <a:t>Step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783080"/>
            <a:ext cx="1691640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57216" y="1810512"/>
            <a:ext cx="1618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Pop (url, 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79" y="1783080"/>
            <a:ext cx="3200400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48855" y="1810512"/>
            <a:ext cx="3127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Queue after Pop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12680" y="1783080"/>
            <a:ext cx="1965960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49255" y="1810512"/>
            <a:ext cx="18928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0FF"/>
                </a:solidFill>
              </a:rPr>
              <a:t>Visited Set Grows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2130552"/>
            <a:ext cx="50292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54296" y="2167128"/>
            <a:ext cx="42976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0FF"/>
                </a:solidFill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2130552"/>
            <a:ext cx="169164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7216" y="2167128"/>
            <a:ext cx="161848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CC15"/>
                </a:solidFill>
              </a:rPr>
              <a:t>— (init) 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79" y="2130552"/>
            <a:ext cx="320040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48855" y="2167128"/>
            <a:ext cx="312724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[/ d=0]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12680" y="2130552"/>
            <a:ext cx="196596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49255" y="2167128"/>
            <a:ext cx="1892807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+ /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2706624"/>
            <a:ext cx="50292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54296" y="2743200"/>
            <a:ext cx="42976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0FF"/>
                </a:solidFill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2706624"/>
            <a:ext cx="169164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57216" y="2743200"/>
            <a:ext cx="161848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CC15"/>
                </a:solidFill>
              </a:rPr>
              <a:t>/ d=0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12279" y="2706624"/>
            <a:ext cx="320040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48855" y="2743200"/>
            <a:ext cx="312724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[/about d=1, /products d=1, /contact d=1]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12680" y="2706624"/>
            <a:ext cx="196596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49255" y="2743200"/>
            <a:ext cx="1892807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+ /about, /products, /contact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17720" y="3282696"/>
            <a:ext cx="50292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54296" y="3319272"/>
            <a:ext cx="42976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0FF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3282696"/>
            <a:ext cx="169164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57216" y="3319272"/>
            <a:ext cx="161848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CC15"/>
                </a:solidFill>
              </a:rPr>
              <a:t>/about d=1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12279" y="3282696"/>
            <a:ext cx="320040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48855" y="3319272"/>
            <a:ext cx="312724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[/products d=1, /contact d=1, /about/team d=2, /about/history d=2]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12680" y="3282696"/>
            <a:ext cx="196596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49255" y="3319272"/>
            <a:ext cx="1892807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+ /about/team, /about/history
/ already visited → skip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17720" y="3858768"/>
            <a:ext cx="50292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54296" y="3895344"/>
            <a:ext cx="42976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0FF"/>
                </a:solidFill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3858768"/>
            <a:ext cx="169164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57216" y="3895344"/>
            <a:ext cx="161848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CC15"/>
                </a:solidFill>
              </a:rPr>
              <a:t>/products d=1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12279" y="3858768"/>
            <a:ext cx="320040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48855" y="3895344"/>
            <a:ext cx="312724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[/contact d=1, /about/team d=2, /about/history d=2, /products/software d=2]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12680" y="3858768"/>
            <a:ext cx="196596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49255" y="3895344"/>
            <a:ext cx="1892807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+ /products/software
/about/team already visited → skip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17720" y="4434840"/>
            <a:ext cx="50292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54296" y="4471416"/>
            <a:ext cx="42976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0FF"/>
                </a:solidFill>
              </a:rPr>
              <a:t>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4434840"/>
            <a:ext cx="169164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57216" y="4471416"/>
            <a:ext cx="161848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CC15"/>
                </a:solidFill>
              </a:rPr>
              <a:t>/contact d=1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12279" y="4434840"/>
            <a:ext cx="320040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48855" y="4471416"/>
            <a:ext cx="312724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[/about/team d=2, /about/history d=2, /products/software d=2]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012680" y="4434840"/>
            <a:ext cx="196596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49255" y="4471416"/>
            <a:ext cx="1892807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(no new links from /contact)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17720" y="5010912"/>
            <a:ext cx="50292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54296" y="5047488"/>
            <a:ext cx="42976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0FF"/>
                </a:solidFill>
              </a:rPr>
              <a:t>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20640" y="5010912"/>
            <a:ext cx="169164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157216" y="5047488"/>
            <a:ext cx="161848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CC15"/>
                </a:solidFill>
              </a:rPr>
              <a:t>/about/team d=2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812279" y="5010912"/>
            <a:ext cx="320040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48855" y="5047488"/>
            <a:ext cx="312724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[/about/history d=2, /products/software d=2]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012680" y="5010912"/>
            <a:ext cx="196596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049255" y="5047488"/>
            <a:ext cx="1892807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(leaf node — no outgoing links)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17720" y="5586984"/>
            <a:ext cx="50292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54296" y="5623560"/>
            <a:ext cx="42976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0FF"/>
                </a:solidFill>
              </a:rPr>
              <a:t>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120640" y="5586984"/>
            <a:ext cx="169164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157216" y="5623560"/>
            <a:ext cx="161848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CC15"/>
                </a:solidFill>
              </a:rPr>
              <a:t>/about/history d=2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12279" y="5586984"/>
            <a:ext cx="320040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848855" y="5623560"/>
            <a:ext cx="312724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[/products/software d=2]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12680" y="5586984"/>
            <a:ext cx="196596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049255" y="5623560"/>
            <a:ext cx="1892807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(leaf node)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17720" y="6163056"/>
            <a:ext cx="50292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54296" y="6199632"/>
            <a:ext cx="42976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0FF"/>
                </a:solidFill>
              </a:rPr>
              <a:t>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120640" y="6163056"/>
            <a:ext cx="169164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157216" y="6199632"/>
            <a:ext cx="161848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CC15"/>
                </a:solidFill>
              </a:rPr>
              <a:t>/products/software d=2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812279" y="6163056"/>
            <a:ext cx="320040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848855" y="6199632"/>
            <a:ext cx="312724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[ EMPTY ]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012680" y="6163056"/>
            <a:ext cx="196596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049255" y="6199632"/>
            <a:ext cx="1892807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(leaf node)  ✅ DONE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0FF"/>
                </a:solidFill>
              </a:rPr>
              <a:t>Example Trace — Final Adjacency List &amp;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7 nodes · 8 directed edges  |  Resulting link_graph.json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WebTrace  •  ECE 2103 — Data Structures &amp;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17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34440"/>
            <a:ext cx="5577840" cy="5349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234440"/>
            <a:ext cx="5577840" cy="64008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0FF"/>
                </a:solidFill>
              </a:rPr>
              <a:t>Resulting link_graph.json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8308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{
  "https://example.com/": [
    "https://example.com/about",
    "https://example.com/products",
    "https://example.com/contact"
  ],
  "https://example.com/about": [
    "https://example.com/about/team",
    "https://example.com/about/history",
    "https://example.com/"
  ],
  "https://example.com/products": [
    "https://example.com/products/software",
    "https://example.com/about/team"
  ],
  "https://example.com/contact": [],
  "https://example.com/about/team": [],
  "https://example.com/about/history": [],
  "https://example.com/products/software": []
}
Key Observations:
  |V| = 7 pages   |E| = 8 directed edges
  /contact is a sink (out-degree = 0)
  /about/team is cross-linked (/about + /products → it)
  / ← /about back-link creates a CYCLE → caught by visited!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234440"/>
            <a:ext cx="5596128" cy="5349240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234440"/>
            <a:ext cx="559612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Resulting crawled_pages.csv (BFS order)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783080"/>
            <a:ext cx="594360" cy="347472"/>
          </a:xfrm>
          <a:prstGeom prst="rect">
            <a:avLst/>
          </a:prstGeom>
          <a:solidFill>
            <a:srgbClr val="8B5CF6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810512"/>
            <a:ext cx="5212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0F19"/>
                </a:solidFill>
              </a:rPr>
              <a:t>Order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1783080"/>
            <a:ext cx="2651760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23176" y="1810512"/>
            <a:ext cx="2578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5CF6"/>
                </a:solidFill>
              </a:rPr>
              <a:t>URL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38360" y="1783080"/>
            <a:ext cx="365760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74936" y="1810512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5CF6"/>
                </a:solidFill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04120" y="1783080"/>
            <a:ext cx="1691640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0696" y="1810512"/>
            <a:ext cx="16184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5CF6"/>
                </a:solidFill>
              </a:rPr>
              <a:t>Parent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2130552"/>
            <a:ext cx="59436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2221992"/>
            <a:ext cx="52120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5CF6"/>
                </a:solidFill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2130552"/>
            <a:ext cx="265176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3176" y="2221992"/>
            <a:ext cx="257860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38360" y="2130552"/>
            <a:ext cx="36576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74936" y="2221992"/>
            <a:ext cx="29260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F0FF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04120" y="2130552"/>
            <a:ext cx="169164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0696" y="2221992"/>
            <a:ext cx="16184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2706624"/>
            <a:ext cx="59436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8816" y="2798064"/>
            <a:ext cx="52120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5CF6"/>
                </a:solidFill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86600" y="2706624"/>
            <a:ext cx="265176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23176" y="2798064"/>
            <a:ext cx="257860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/about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38360" y="2706624"/>
            <a:ext cx="36576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74936" y="2798064"/>
            <a:ext cx="29260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F0FF"/>
                </a:solidFill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20" y="2706624"/>
            <a:ext cx="169164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40696" y="2798064"/>
            <a:ext cx="16184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3282696"/>
            <a:ext cx="59436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816" y="3374136"/>
            <a:ext cx="52120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5CF6"/>
                </a:solidFill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86600" y="3282696"/>
            <a:ext cx="265176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23176" y="3374136"/>
            <a:ext cx="257860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/products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38360" y="3282696"/>
            <a:ext cx="36576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74936" y="3374136"/>
            <a:ext cx="29260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F0FF"/>
                </a:solidFill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04120" y="3282696"/>
            <a:ext cx="169164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40696" y="3374136"/>
            <a:ext cx="16184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3858768"/>
            <a:ext cx="59436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28816" y="3950208"/>
            <a:ext cx="52120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5CF6"/>
                </a:solidFill>
              </a:rPr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86600" y="3858768"/>
            <a:ext cx="265176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23176" y="3950208"/>
            <a:ext cx="257860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/contact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38360" y="3858768"/>
            <a:ext cx="36576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74936" y="3950208"/>
            <a:ext cx="29260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F0FF"/>
                </a:solidFill>
              </a:rP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04120" y="3858768"/>
            <a:ext cx="169164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40696" y="3950208"/>
            <a:ext cx="16184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240" y="4434840"/>
            <a:ext cx="59436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28816" y="4526279"/>
            <a:ext cx="52120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5CF6"/>
                </a:solidFill>
              </a:rPr>
              <a:t>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86600" y="4434840"/>
            <a:ext cx="265176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23176" y="4526279"/>
            <a:ext cx="257860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/about/team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738360" y="4434840"/>
            <a:ext cx="36576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74936" y="4526279"/>
            <a:ext cx="29260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F0FF"/>
                </a:solidFill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104120" y="4434840"/>
            <a:ext cx="169164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40696" y="4526279"/>
            <a:ext cx="16184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/about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92240" y="5010912"/>
            <a:ext cx="59436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28816" y="5102352"/>
            <a:ext cx="52120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5CF6"/>
                </a:solidFill>
              </a:rPr>
              <a:t>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86600" y="5010912"/>
            <a:ext cx="265176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23176" y="5102352"/>
            <a:ext cx="257860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/about/history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738360" y="5010912"/>
            <a:ext cx="36576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74936" y="5102352"/>
            <a:ext cx="29260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F0FF"/>
                </a:solidFill>
              </a:rPr>
              <a:t>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104120" y="5010912"/>
            <a:ext cx="1691640" cy="576072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140696" y="5102352"/>
            <a:ext cx="16184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/about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92240" y="5586984"/>
            <a:ext cx="59436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28816" y="5678424"/>
            <a:ext cx="52120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5CF6"/>
                </a:solidFill>
              </a:rPr>
              <a:t>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86600" y="5586984"/>
            <a:ext cx="265176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23176" y="5678424"/>
            <a:ext cx="257860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/products/software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738360" y="5586984"/>
            <a:ext cx="36576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74936" y="5678424"/>
            <a:ext cx="29260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F0FF"/>
                </a:solidFill>
              </a:rPr>
              <a:t>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04120" y="5586984"/>
            <a:ext cx="1691640" cy="576072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40696" y="5678424"/>
            <a:ext cx="16184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1F5F9"/>
                </a:solidFill>
              </a:rPr>
              <a:t>/products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55080" y="5806440"/>
            <a:ext cx="5596128" cy="640080"/>
          </a:xfrm>
          <a:prstGeom prst="rect">
            <a:avLst/>
          </a:prstGeom>
          <a:solidFill>
            <a:srgbClr val="142C17"/>
          </a:solidFill>
          <a:ln w="101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46520" y="5852160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✅  BFS Level-Order Confirmed:
Depth 0 visited first, then ALL Depth 1, then ALL Depth 2.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0FF"/>
                </a:solidFill>
              </a:rPr>
              <a:t>Algorithmic Complexity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All complexities sourced directly from README.md §9 and code docstrings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WebTrace  •  ECE 2103 — Data Structures &amp;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18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234440"/>
            <a:ext cx="2971800" cy="384048"/>
          </a:xfrm>
          <a:prstGeom prst="rect">
            <a:avLst/>
          </a:prstGeom>
          <a:solidFill>
            <a:srgbClr val="00F0FF"/>
          </a:solidFill>
          <a:ln w="762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" y="1271016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B0F19"/>
                </a:solidFill>
              </a:rPr>
              <a:t>Operation / 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2968" y="1234440"/>
            <a:ext cx="2926080" cy="384048"/>
          </a:xfrm>
          <a:prstGeom prst="rect">
            <a:avLst/>
          </a:prstGeom>
          <a:solidFill>
            <a:srgbClr val="0F172A"/>
          </a:solidFill>
          <a:ln w="762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18688" y="127101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0FF"/>
                </a:solidFill>
              </a:rPr>
              <a:t>Data 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9048" y="1234440"/>
            <a:ext cx="2697480" cy="384048"/>
          </a:xfrm>
          <a:prstGeom prst="rect">
            <a:avLst/>
          </a:prstGeom>
          <a:solidFill>
            <a:srgbClr val="0F172A"/>
          </a:solidFill>
          <a:ln w="762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27101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0FF"/>
                </a:solidFill>
              </a:rPr>
              <a:t>Time Complexity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96528" y="1234440"/>
            <a:ext cx="2468880" cy="384048"/>
          </a:xfrm>
          <a:prstGeom prst="rect">
            <a:avLst/>
          </a:prstGeom>
          <a:solidFill>
            <a:srgbClr val="0F172A"/>
          </a:solidFill>
          <a:ln w="762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42248" y="127101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0FF"/>
                </a:solidFill>
              </a:rPr>
              <a:t>Space Complexity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1618488"/>
            <a:ext cx="297180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" y="1655064"/>
            <a:ext cx="2862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Enqueue / Dequeue URL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2968" y="1618488"/>
            <a:ext cx="292608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27832" y="1655064"/>
            <a:ext cx="28163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Queue (collections.deque)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9048" y="1618488"/>
            <a:ext cx="269748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3912" y="1655064"/>
            <a:ext cx="2587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C55E"/>
                </a:solidFill>
              </a:rPr>
              <a:t>O(1)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96528" y="1618488"/>
            <a:ext cx="246888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51392" y="1655064"/>
            <a:ext cx="23591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5CF6"/>
                </a:solidFill>
              </a:rPr>
              <a:t>O(|V|)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2093976"/>
            <a:ext cx="2971800" cy="47548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" y="2130552"/>
            <a:ext cx="2862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Visited Check &amp; Insertion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72968" y="2093976"/>
            <a:ext cx="2926080" cy="47548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27832" y="2130552"/>
            <a:ext cx="28163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Vector (Linear Search)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9048" y="2093976"/>
            <a:ext cx="2697480" cy="47548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53912" y="2130552"/>
            <a:ext cx="2587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C55E"/>
                </a:solidFill>
              </a:rPr>
              <a:t>O(N) average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96528" y="2093976"/>
            <a:ext cx="2468880" cy="47548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51392" y="2130552"/>
            <a:ext cx="23591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5CF6"/>
                </a:solidFill>
              </a:rPr>
              <a:t>O(|V|)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" y="2569464"/>
            <a:ext cx="297180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" y="2606040"/>
            <a:ext cx="2862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Query / Insert Edge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72968" y="2569464"/>
            <a:ext cx="292608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27832" y="2606040"/>
            <a:ext cx="28163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Adjacency List (dict[str,list])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9048" y="2569464"/>
            <a:ext cx="269748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53912" y="2606040"/>
            <a:ext cx="2587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C55E"/>
                </a:solidFill>
              </a:rPr>
              <a:t>O(1) average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96528" y="2569464"/>
            <a:ext cx="246888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51392" y="2606040"/>
            <a:ext cx="23591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5CF6"/>
                </a:solidFill>
              </a:rPr>
              <a:t>O(|V| + |E|)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1168" y="3044952"/>
            <a:ext cx="2971800" cy="47548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3081528"/>
            <a:ext cx="2862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robots.txt / Politeness Lookup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72968" y="3044952"/>
            <a:ext cx="2926080" cy="47548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27832" y="3081528"/>
            <a:ext cx="28163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Hash Map (dict)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9048" y="3044952"/>
            <a:ext cx="2697480" cy="47548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53912" y="3081528"/>
            <a:ext cx="2587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C55E"/>
                </a:solidFill>
              </a:rPr>
              <a:t>O(1) average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96528" y="3044952"/>
            <a:ext cx="2468880" cy="47548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51392" y="3081528"/>
            <a:ext cx="23591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5CF6"/>
                </a:solidFill>
              </a:rPr>
              <a:t>O(Domains)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1168" y="3520440"/>
            <a:ext cx="297180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6032" y="3557016"/>
            <a:ext cx="2862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Duplicate Edge Dedup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72968" y="3520440"/>
            <a:ext cx="292608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27832" y="3557016"/>
            <a:ext cx="28163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Hash Set (set)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99048" y="3520440"/>
            <a:ext cx="269748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53912" y="3557016"/>
            <a:ext cx="2587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C55E"/>
                </a:solidFill>
              </a:rPr>
              <a:t>O(1) average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96528" y="3520440"/>
            <a:ext cx="246888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51392" y="3557016"/>
            <a:ext cx="23591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5CF6"/>
                </a:solidFill>
              </a:rPr>
              <a:t>O(|E|)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1168" y="3995928"/>
            <a:ext cx="2971800" cy="47548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6032" y="4032504"/>
            <a:ext cx="2862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Heap Push / Pop (Dijkstra)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72968" y="3995928"/>
            <a:ext cx="2926080" cy="47548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27832" y="4032504"/>
            <a:ext cx="28163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Min-Heap Array (MinHeapPQ)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99048" y="3995928"/>
            <a:ext cx="2697480" cy="47548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53912" y="4032504"/>
            <a:ext cx="2587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C55E"/>
                </a:solidFill>
              </a:rPr>
              <a:t>O(log N)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96528" y="3995928"/>
            <a:ext cx="2468880" cy="47548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51392" y="4032504"/>
            <a:ext cx="23591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5CF6"/>
                </a:solidFill>
              </a:rPr>
              <a:t>O(|V|)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1168" y="4471416"/>
            <a:ext cx="297180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56032" y="4507992"/>
            <a:ext cx="2862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BST Insert / Search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72968" y="4471416"/>
            <a:ext cx="292608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27832" y="4507992"/>
            <a:ext cx="28163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BinarySearchTree[CrawledPage]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99048" y="4471416"/>
            <a:ext cx="269748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53912" y="4507992"/>
            <a:ext cx="2587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ACC15"/>
                </a:solidFill>
              </a:rPr>
              <a:t>O(log N) avg / O(N) worst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796528" y="4471416"/>
            <a:ext cx="246888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851392" y="4507992"/>
            <a:ext cx="23591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5CF6"/>
                </a:solidFill>
              </a:rPr>
              <a:t>O(|V|)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1168" y="4946904"/>
            <a:ext cx="2971800" cy="47548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56032" y="4983480"/>
            <a:ext cx="2862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BST In-Order Traversal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172968" y="4946904"/>
            <a:ext cx="2926080" cy="47548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27832" y="4983480"/>
            <a:ext cx="28163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BinarySearchTree inorder()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99048" y="4946904"/>
            <a:ext cx="2697480" cy="47548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53912" y="4983480"/>
            <a:ext cx="2587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C55E"/>
                </a:solidFill>
              </a:rPr>
              <a:t>O(N)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796528" y="4946904"/>
            <a:ext cx="2468880" cy="47548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851392" y="4983480"/>
            <a:ext cx="23591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5CF6"/>
                </a:solidFill>
              </a:rPr>
              <a:t>O(N) stack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01168" y="5422392"/>
            <a:ext cx="297180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56032" y="5458968"/>
            <a:ext cx="2862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URL Normalization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172968" y="5422392"/>
            <a:ext cx="292608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27832" y="5458968"/>
            <a:ext cx="28163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String parsing (urlparse)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99048" y="5422392"/>
            <a:ext cx="269748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53912" y="5458968"/>
            <a:ext cx="2587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C55E"/>
                </a:solidFill>
              </a:rPr>
              <a:t>O(L)  L=URL length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796528" y="5422392"/>
            <a:ext cx="246888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851392" y="5458968"/>
            <a:ext cx="23591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5CF6"/>
                </a:solidFill>
              </a:rPr>
              <a:t>O(1)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01168" y="5897879"/>
            <a:ext cx="2971800" cy="47548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56032" y="5934455"/>
            <a:ext cx="2862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Overall Crawl Execution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172968" y="5897879"/>
            <a:ext cx="2926080" cy="47548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27832" y="5934455"/>
            <a:ext cx="28163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Graph BFS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099048" y="5897879"/>
            <a:ext cx="2697480" cy="47548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53912" y="5934455"/>
            <a:ext cx="2587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C55E"/>
                </a:solidFill>
              </a:rPr>
              <a:t>O(|V| + |E|)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796528" y="5897879"/>
            <a:ext cx="2468880" cy="475488"/>
          </a:xfrm>
          <a:prstGeom prst="rect">
            <a:avLst/>
          </a:prstGeom>
          <a:solidFill>
            <a:srgbClr val="0E1A2B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851392" y="5934455"/>
            <a:ext cx="23591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5CF6"/>
                </a:solidFill>
              </a:rPr>
              <a:t>O(|V| + |E|)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01168" y="6373368"/>
            <a:ext cx="297180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56032" y="6409944"/>
            <a:ext cx="28620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Dijkstra Full Run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172968" y="6373368"/>
            <a:ext cx="292608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227832" y="6409944"/>
            <a:ext cx="28163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</a:rPr>
              <a:t>BFS + MinHeapPQ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099048" y="6373368"/>
            <a:ext cx="269748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153912" y="6409944"/>
            <a:ext cx="25877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C55E"/>
                </a:solidFill>
              </a:rPr>
              <a:t>O((V+E) log V)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796528" y="6373368"/>
            <a:ext cx="2468880" cy="475488"/>
          </a:xfrm>
          <a:prstGeom prst="rect">
            <a:avLst/>
          </a:prstGeom>
          <a:solidFill>
            <a:srgbClr val="0F172A"/>
          </a:solidFill>
          <a:ln w="508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851392" y="6409944"/>
            <a:ext cx="235915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B5CF6"/>
                </a:solidFill>
              </a:rPr>
              <a:t>O(V)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F0FF"/>
                </a:solidFill>
              </a:rPr>
              <a:t>Q&amp;A Preparation — Anticipated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8 likely evaluator questions with concise, code-grounded 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WebTrace  •  ECE 2103 — Data Structures &amp;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19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261872"/>
            <a:ext cx="5669280" cy="1316736"/>
          </a:xfrm>
          <a:prstGeom prst="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261872"/>
            <a:ext cx="566928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" y="133502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Q1: Why BFS and not DFS?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1682495"/>
            <a:ext cx="5486400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BFS guarantees shortest click-path (hop count) to each page. DFS would crawl
one branch arbitrarily deep before exploring siblings. BFS also naturally
enforces max_depth: all depth-d pages finish before any depth-(d+1) is touched.
(crawler.py:36, invariant in README §3A)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261872"/>
            <a:ext cx="5669280" cy="1316736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61872"/>
            <a:ext cx="5669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33502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</a:rPr>
              <a:t>Q2: Why custom Vector instead of Python list for visited?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682495"/>
            <a:ext cx="5486400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Demonstrates ECE 2103 syllabus topics: Dynamic Array memory representation,
capacity doubling, and linear/binary search (structures.py:31-164).
A Python set would be O(1) but wouldn't show the underlying algorithm.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2624328"/>
            <a:ext cx="5669280" cy="1316736"/>
          </a:xfrm>
          <a:prstGeom prst="rect">
            <a:avLst/>
          </a:prstGeom>
          <a:solidFill>
            <a:srgbClr val="0F172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" y="2624328"/>
            <a:ext cx="566928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" y="2697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Q3: What happens with cyclic links (A → B → A)?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" y="3044952"/>
            <a:ext cx="5486400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The BFS Visited Vector prevents this. At step crawler.py:185-187:
'if norm_link NOT IN visited: visited.push_back(norm_link)'
URLs are marked visited IMMEDIATELY upon discovery, blocking re-enqueuing.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624328"/>
            <a:ext cx="5669280" cy="1316736"/>
          </a:xfrm>
          <a:prstGeom prst="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624328"/>
            <a:ext cx="5669280" cy="457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2697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ACC15"/>
                </a:solidFill>
              </a:rPr>
              <a:t>Q4: How is robots.txt compliance enforced?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3044952"/>
            <a:ext cx="5486400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Fetcher._robots_cache (Hash Map, fetcher.py:72) caches parsed RobotFileParser
per domain. get_robots_parser() fetches /robots.txt on first visit, caches it.
can_fetch(url) checks before every HTTP GET. 403 → disallow_all=True.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86784"/>
            <a:ext cx="5669280" cy="1316736"/>
          </a:xfrm>
          <a:prstGeom prst="rect">
            <a:avLst/>
          </a:prstGeom>
          <a:solidFill>
            <a:srgbClr val="0F172A"/>
          </a:solidFill>
          <a:ln w="1270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1168" y="3986784"/>
            <a:ext cx="5669280" cy="4572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" y="405993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722"/>
                </a:solidFill>
              </a:rPr>
              <a:t>Q5: What is BST worst case and how to fix it?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" y="4407408"/>
            <a:ext cx="5486400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If URLs are inserted in sorted order (alphabetical crawl), BST degenerates
to a linked list — O(N) height, O(N) search. Fix: use a self-balancing tree
such as AVL Tree or Red-Black Tree to guarantee O(log N) always.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986784"/>
            <a:ext cx="5669280" cy="1316736"/>
          </a:xfrm>
          <a:prstGeom prst="rect">
            <a:avLst/>
          </a:prstGeom>
          <a:solidFill>
            <a:srgbClr val="0F172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986784"/>
            <a:ext cx="566928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405993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0FF"/>
                </a:solidFill>
              </a:rPr>
              <a:t>Q6: How does Dijkstra use the Min-Heap?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4407408"/>
            <a:ext cx="5486400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Each unexplored (dist, url) pair is pushed to MinHeapPriorityQueue (graph.py:138).
pq.pop() extracts the minimum-distance node in O(log N) via sift-down.
Edge weights are HTTP response latencies measured in fetcher (crawler.py:139-146).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" y="5349240"/>
            <a:ext cx="5669280" cy="1316736"/>
          </a:xfrm>
          <a:prstGeom prst="rect">
            <a:avLst/>
          </a:prstGeom>
          <a:solidFill>
            <a:srgbClr val="0F172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1168" y="5349240"/>
            <a:ext cx="5669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" y="54223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</a:rPr>
              <a:t>Q7: How does domain restriction work?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" y="5769864"/>
            <a:ext cx="5486400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is_same_domain(link, seed) in url_utils.py:56 extracts the canonical domain key
(strips www., port, lowercases). Only links matching the seed domain key are
added to the graph. Externals silently skipped (crawler.py:177-178).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5349240"/>
            <a:ext cx="5669280" cy="1316736"/>
          </a:xfrm>
          <a:prstGeom prst="rect">
            <a:avLst/>
          </a:prstGeom>
          <a:solidFill>
            <a:srgbClr val="0F172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5349240"/>
            <a:ext cx="566928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3368" y="54223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Q8: What is the space complexity of the full crawl?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3368" y="5769864"/>
            <a:ext cx="5486400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</a:rPr>
              <a:t>Queue: O(|V|).  Visited Vector: O(|V|).  LinkGraph: O(|V|+|E|).
BST Index: O(|V|).  robots_cache + delay_map: O(Domains).
Overall dominant term: O(|V| + |E|) — as stated in README §9.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731520"/>
            <a:ext cx="9601200" cy="5303520"/>
          </a:xfrm>
          <a:prstGeom prst="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1005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0F0FF"/>
                </a:solidFill>
              </a:rPr>
              <a:t>WebTrace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2194560"/>
            <a:ext cx="41148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331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B5CF6"/>
                </a:solidFill>
              </a:rPr>
              <a:t>ECE 2103 — Data Structures &amp;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8803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A domain-restricted BFS web crawler &amp; graph analyzer demonstrating
Queue · Vector · Adjacency List · Min-Heap · BST · Hash Maps · Dijkstra's Algorithm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3703320"/>
            <a:ext cx="411480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38404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1F5F9"/>
                </a:solidFill>
              </a:rPr>
              <a:t>Thank You  —  Questions Welcome!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45720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Python 3  ·  Flask  ·  React + Tailwind  ·  vis-network  ·  BeautifulSoup4  ·  pytest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